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6400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EEB139"/>
                </a:solidFill>
                <a:latin typeface="Aptos"/>
              </a:defRPr>
            </a:pPr>
            <a:r>
              <a:t>MFAD 2026 •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858000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SMART PARKING</a:t>
            </a:r>
            <a:br/>
            <a:r>
              <a:t>SLOT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649224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100" b="0">
                <a:solidFill>
                  <a:srgbClr val="C8D8E8"/>
                </a:solidFill>
                <a:latin typeface="Aptos"/>
              </a:defRPr>
            </a:pPr>
            <a:r>
              <a:t>Using Matrices, Manhattan Distance</a:t>
            </a:r>
            <a:br/>
            <a:r>
              <a:t>and Compatibility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00584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58200" y="100584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0" y="1005840"/>
            <a:ext cx="594360" cy="594360"/>
          </a:xfrm>
          <a:prstGeom prst="roundRect">
            <a:avLst/>
          </a:prstGeom>
          <a:solidFill>
            <a:srgbClr val="189D8F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12680" y="100584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0" y="1783080"/>
            <a:ext cx="594360" cy="594360"/>
          </a:xfrm>
          <a:prstGeom prst="roundRect">
            <a:avLst/>
          </a:prstGeom>
          <a:solidFill>
            <a:srgbClr val="189D8F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58200" y="178308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0" y="178308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12680" y="178308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0" y="256032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58200" y="256032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12680" y="2560320"/>
            <a:ext cx="594360" cy="594360"/>
          </a:xfrm>
          <a:prstGeom prst="roundRect">
            <a:avLst/>
          </a:prstGeom>
          <a:solidFill>
            <a:srgbClr val="189D8F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0" y="333756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3337560"/>
            <a:ext cx="594360" cy="594360"/>
          </a:xfrm>
          <a:prstGeom prst="roundRect">
            <a:avLst/>
          </a:prstGeom>
          <a:solidFill>
            <a:srgbClr val="189D8F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333756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12680" y="3337560"/>
            <a:ext cx="594360" cy="594360"/>
          </a:xfrm>
          <a:prstGeom prst="roundRect">
            <a:avLst/>
          </a:prstGeom>
          <a:solidFill>
            <a:srgbClr val="2B3B50"/>
          </a:solidFill>
          <a:ln>
            <a:solidFill>
              <a:srgbClr val="55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54880"/>
            <a:ext cx="640080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Course: Mathematical Foundation for AI &amp; Data Science</a:t>
            </a:r>
            <a:br/>
            <a:r>
              <a:t>Team Members: __________________________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63640"/>
            <a:ext cx="54864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00" b="0">
                <a:solidFill>
                  <a:srgbClr val="AFBFD2"/>
                </a:solidFill>
                <a:latin typeface="Aptos"/>
              </a:defRPr>
            </a:pPr>
            <a:r>
              <a:t>Python • NumPy • Matplotlib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FBFD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96012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00" b="0">
                <a:solidFill>
                  <a:srgbClr val="697789"/>
                </a:solidFill>
                <a:latin typeface="Aptos"/>
              </a:defRPr>
            </a:pPr>
            <a:r>
              <a:t>Why smart allocation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69778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1828800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9616"/>
            <a:ext cx="49834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01952"/>
            <a:ext cx="4956048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Parking areas contain different slot types and partially occupied spaces. Finding a suitable space manually may take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73152" cy="182880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99616"/>
            <a:ext cx="49834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4956048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A Python application checks available capacity, estimates driving distance along aisles, and recommends a suitable nearby slot.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94760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900" b="1">
                <a:solidFill>
                  <a:srgbClr val="121F34"/>
                </a:solidFill>
                <a:latin typeface="Aptos"/>
              </a:defRPr>
            </a:pPr>
            <a:r>
              <a:t>Vehicle / slot categories supported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34840"/>
            <a:ext cx="2240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08576"/>
            <a:ext cx="214884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3069AA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4434840"/>
            <a:ext cx="2240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8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608576"/>
            <a:ext cx="214884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189D8F"/>
                </a:solidFill>
                <a:latin typeface="Aptos"/>
              </a:defRPr>
            </a:pPr>
            <a:r>
              <a:t>EV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434840"/>
            <a:ext cx="2240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EB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608576"/>
            <a:ext cx="214884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EEB139"/>
                </a:solidFill>
                <a:latin typeface="Aptos"/>
              </a:defRPr>
            </a:pPr>
            <a:r>
              <a:t>Accessible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4434840"/>
            <a:ext cx="2240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F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4608576"/>
            <a:ext cx="214884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3F9664"/>
                </a:solidFill>
                <a:latin typeface="Aptos"/>
              </a:defRPr>
            </a:pPr>
            <a:r>
              <a:t>2 Wheeler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42416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D3948"/>
                </a:solidFill>
                <a:latin typeface="Aptos"/>
              </a:defRPr>
            </a:pPr>
            <a:r>
              <a:t>Goal: make allocation clearer, consistent, and easy to visualize.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"/>
              </a:defRPr>
            </a:pPr>
            <a:r>
              <a:t>Objectives and 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96012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00" b="0">
                <a:solidFill>
                  <a:srgbClr val="697789"/>
                </a:solidFill>
                <a:latin typeface="Aptos"/>
              </a:defRPr>
            </a:pPr>
            <a:r>
              <a:t>An interactive parking-management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69778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691640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9616"/>
            <a:ext cx="49377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Represent parking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910328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Use a 4 × 4 matrix to store slot types and occupancy.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73152" cy="169164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99616"/>
            <a:ext cx="49377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Check compatibility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4910328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Consider only slots suitable for the requested vehicle type and capacity.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74720"/>
            <a:ext cx="73152" cy="1691640"/>
          </a:xfrm>
          <a:prstGeom prst="rect">
            <a:avLst/>
          </a:prstGeom>
          <a:solidFill>
            <a:srgbClr val="EEB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02736"/>
            <a:ext cx="49377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Recommend a slot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05072"/>
            <a:ext cx="4910328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Combine road-based Manhattan distance with a compatibility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73152" cy="1691640"/>
          </a:xfrm>
          <a:prstGeom prst="rect">
            <a:avLst/>
          </a:prstGeom>
          <a:solidFill>
            <a:srgbClr val="3F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02736"/>
            <a:ext cx="49377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Manage the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05072"/>
            <a:ext cx="4910328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Allocate and release slots, then visualize the map and route.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100584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0">
                <a:solidFill>
                  <a:srgbClr val="697789"/>
                </a:solidFill>
                <a:latin typeface="Aptos"/>
              </a:defRPr>
            </a:pPr>
            <a:r>
              <a:t>Core flow: represent → filter → calculate → score → allocate → visualize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"/>
              </a:defRPr>
            </a:pPr>
            <a:r>
              <a:t>Mathematical Model: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96012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00" b="0">
                <a:solidFill>
                  <a:srgbClr val="697789"/>
                </a:solidFill>
                <a:latin typeface="Aptos"/>
              </a:defRPr>
            </a:pPr>
            <a:r>
              <a:t>Separate matrices represent slot type and occupancy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69778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73152" cy="4389120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08176"/>
            <a:ext cx="49834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1. Slot-type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10512"/>
            <a:ext cx="4956048" cy="3794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2D3948"/>
                </a:solidFill>
                <a:latin typeface="Aptos"/>
              </a:defRPr>
            </a:pPr>
            <a:r>
              <a:t>Each cell stores a category:</a:t>
            </a:r>
            <a:br/>
            <a:br/>
            <a:r>
              <a:t>• Normal</a:t>
            </a:r>
            <a:br/>
            <a:r>
              <a:t>• EV charging</a:t>
            </a:r>
            <a:br/>
            <a:r>
              <a:t>• Accessible</a:t>
            </a:r>
            <a:br/>
            <a:r>
              <a:t>• 2 Wheeler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438912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08176"/>
            <a:ext cx="49834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2. Occupancy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10512"/>
            <a:ext cx="4956048" cy="3794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D3948"/>
                </a:solidFill>
                <a:latin typeface="Aptos"/>
              </a:defRPr>
            </a:pPr>
            <a:r>
              <a:t>Each cell stores occupancy:</a:t>
            </a:r>
            <a:br/>
            <a:br/>
            <a:r>
              <a:t>• 0.0 = vacant</a:t>
            </a:r>
            <a:br/>
            <a:r>
              <a:t>• 1.0 = fully occupied</a:t>
            </a:r>
            <a:br/>
            <a:r>
              <a:t>• 0.5 = one motorcycle in a two-bike space</a:t>
            </a:r>
            <a:br/>
            <a:br/>
            <a:r>
              <a:t>Cars occupy the full slot.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4114800"/>
            <a:ext cx="548640" cy="310896"/>
          </a:xfrm>
          <a:prstGeom prst="rect">
            <a:avLst/>
          </a:prstGeom>
          <a:solidFill>
            <a:srgbClr val="E4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151376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4114800"/>
            <a:ext cx="548640" cy="310896"/>
          </a:xfrm>
          <a:prstGeom prst="rect">
            <a:avLst/>
          </a:prstGeom>
          <a:solidFill>
            <a:srgbClr val="C156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151376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4114800"/>
            <a:ext cx="548640" cy="310896"/>
          </a:xfrm>
          <a:prstGeom prst="rect">
            <a:avLst/>
          </a:prstGeom>
          <a:solidFill>
            <a:srgbClr val="E4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4151376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4114800"/>
            <a:ext cx="548640" cy="310896"/>
          </a:xfrm>
          <a:prstGeom prst="rect">
            <a:avLst/>
          </a:prstGeom>
          <a:solidFill>
            <a:srgbClr val="E4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4151376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4498848"/>
            <a:ext cx="548640" cy="310896"/>
          </a:xfrm>
          <a:prstGeom prst="rect">
            <a:avLst/>
          </a:prstGeom>
          <a:solidFill>
            <a:srgbClr val="E4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4535424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4498848"/>
            <a:ext cx="548640" cy="310896"/>
          </a:xfrm>
          <a:prstGeom prst="rect">
            <a:avLst/>
          </a:prstGeom>
          <a:solidFill>
            <a:srgbClr val="E4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4535424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4498848"/>
            <a:ext cx="548640" cy="310896"/>
          </a:xfrm>
          <a:prstGeom prst="rect">
            <a:avLst/>
          </a:prstGeom>
          <a:solidFill>
            <a:srgbClr val="C156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4535424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4498848"/>
            <a:ext cx="548640" cy="310896"/>
          </a:xfrm>
          <a:prstGeom prst="rect">
            <a:avLst/>
          </a:prstGeom>
          <a:solidFill>
            <a:srgbClr val="E4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4535424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4882896"/>
            <a:ext cx="548640" cy="310896"/>
          </a:xfrm>
          <a:prstGeom prst="rect">
            <a:avLst/>
          </a:prstGeom>
          <a:solidFill>
            <a:srgbClr val="C156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919472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4882896"/>
            <a:ext cx="548640" cy="310896"/>
          </a:xfrm>
          <a:prstGeom prst="rect">
            <a:avLst/>
          </a:prstGeom>
          <a:solidFill>
            <a:srgbClr val="E4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4919472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4882896"/>
            <a:ext cx="548640" cy="310896"/>
          </a:xfrm>
          <a:prstGeom prst="rect">
            <a:avLst/>
          </a:prstGeom>
          <a:solidFill>
            <a:srgbClr val="E4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4919472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4882896"/>
            <a:ext cx="548640" cy="310896"/>
          </a:xfrm>
          <a:prstGeom prst="rect">
            <a:avLst/>
          </a:prstGeom>
          <a:solidFill>
            <a:srgbClr val="E4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4919472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5266944"/>
            <a:ext cx="548640" cy="310896"/>
          </a:xfrm>
          <a:prstGeom prst="rect">
            <a:avLst/>
          </a:prstGeom>
          <a:solidFill>
            <a:srgbClr val="E4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5303520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5266944"/>
            <a:ext cx="548640" cy="310896"/>
          </a:xfrm>
          <a:prstGeom prst="rect">
            <a:avLst/>
          </a:prstGeom>
          <a:solidFill>
            <a:srgbClr val="EEB1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79" y="5303520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5266944"/>
            <a:ext cx="548640" cy="310896"/>
          </a:xfrm>
          <a:prstGeom prst="rect">
            <a:avLst/>
          </a:prstGeom>
          <a:solidFill>
            <a:srgbClr val="C156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5303520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5266944"/>
            <a:ext cx="548640" cy="310896"/>
          </a:xfrm>
          <a:prstGeom prst="rect">
            <a:avLst/>
          </a:prstGeom>
          <a:solidFill>
            <a:srgbClr val="E4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5303520"/>
            <a:ext cx="5486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806440"/>
            <a:ext cx="29260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000" b="0">
                <a:solidFill>
                  <a:srgbClr val="697789"/>
                </a:solidFill>
                <a:latin typeface="Aptos"/>
              </a:defRPr>
            </a:pPr>
            <a:r>
              <a:t>Illustrative occupancy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"/>
              </a:defRPr>
            </a:pPr>
            <a:r>
              <a:t>Distance Calculation: Manhattan (L1) Norm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96012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00" b="0">
                <a:solidFill>
                  <a:srgbClr val="697789"/>
                </a:solidFill>
                <a:latin typeface="Aptos"/>
              </a:defRPr>
            </a:pPr>
            <a:r>
              <a:t>Models driving along aisles and turning into a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69778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73152" cy="1828800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08176"/>
            <a:ext cx="49834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Why Manhattan distance?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10512"/>
            <a:ext cx="4956048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The program assumes horizontal and vertical roads. It adds travel along the access road, down an aisle, and into the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182880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08176"/>
            <a:ext cx="49834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Formula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10512"/>
            <a:ext cx="4956048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900" b="0">
                <a:solidFill>
                  <a:srgbClr val="2D3948"/>
                </a:solidFill>
                <a:latin typeface="Aptos"/>
              </a:defRPr>
            </a:pPr>
            <a:r>
              <a:t>d = |roadₓ − entranceₓ| + |row − entranceᵧ| + |slotₓ − roadₓ|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21F34"/>
                </a:solidFill>
                <a:latin typeface="Aptos"/>
              </a:defRPr>
            </a:pPr>
            <a:r>
              <a:t>Route idea: entrance → aisle → parking row → target slot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343400"/>
            <a:ext cx="9875520" cy="320040"/>
          </a:xfrm>
          <a:prstGeom prst="rect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4343400"/>
            <a:ext cx="320040" cy="1234440"/>
          </a:xfrm>
          <a:prstGeom prst="rect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50992" y="4389120"/>
            <a:ext cx="128016" cy="1097280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50992" y="5394960"/>
            <a:ext cx="2011680" cy="128016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18288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21F34"/>
                </a:solidFill>
                <a:latin typeface="Aptos"/>
              </a:defRPr>
            </a:pPr>
            <a:r>
              <a:t>Entrance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349240"/>
            <a:ext cx="21945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21F34"/>
                </a:solidFill>
                <a:latin typeface="Aptos"/>
              </a:defRPr>
            </a:pPr>
            <a:r>
              <a:t>Target slot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0584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0">
                <a:solidFill>
                  <a:srgbClr val="697789"/>
                </a:solidFill>
                <a:latin typeface="Aptos"/>
              </a:defRPr>
            </a:pPr>
            <a:r>
              <a:t>This is a road-path estimate, not straight-line Euclidean distance.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"/>
              </a:defRPr>
            </a:pPr>
            <a:r>
              <a:t>Allocation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96012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00" b="0">
                <a:solidFill>
                  <a:srgbClr val="697789"/>
                </a:solidFill>
                <a:latin typeface="Aptos"/>
              </a:defRPr>
            </a:pPr>
            <a:r>
              <a:t>Balances distance and vehicle-slot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69778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6583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73152" cy="1965960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08176"/>
            <a:ext cx="626364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Score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10512"/>
            <a:ext cx="6236208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2D3948"/>
                </a:solidFill>
                <a:latin typeface="Aptos"/>
              </a:defRPr>
            </a:pPr>
            <a:r>
              <a:t>Score = 0.70 × (1 − distance / maximum distance)</a:t>
            </a:r>
            <a:br/>
            <a:r>
              <a:t>             + 0.30 × compatibility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280160"/>
            <a:ext cx="40233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280160"/>
            <a:ext cx="73152" cy="196596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59" y="1408176"/>
            <a:ext cx="37033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1810512"/>
            <a:ext cx="3675888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2D3948"/>
                </a:solidFill>
                <a:latin typeface="Aptos"/>
              </a:defRPr>
            </a:pPr>
            <a:r>
              <a:t>70% distance</a:t>
            </a:r>
            <a:br/>
            <a:r>
              <a:t>30% compatibility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10058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900" b="1">
                <a:solidFill>
                  <a:srgbClr val="121F34"/>
                </a:solidFill>
                <a:latin typeface="Aptos"/>
              </a:defRPr>
            </a:pPr>
            <a:r>
              <a:t>Compatibility values in the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160520"/>
            <a:ext cx="73152" cy="1325880"/>
          </a:xfrm>
          <a:prstGeom prst="rect">
            <a:avLst/>
          </a:prstGeom>
          <a:solidFill>
            <a:srgbClr val="3F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88536"/>
            <a:ext cx="31089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Exact type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90872"/>
            <a:ext cx="3081528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2D3948"/>
                </a:solidFill>
                <a:latin typeface="Aptos"/>
              </a:defRPr>
            </a:pPr>
            <a:r>
              <a:t>1.0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1605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160520"/>
            <a:ext cx="73152" cy="1325880"/>
          </a:xfrm>
          <a:prstGeom prst="rect">
            <a:avLst/>
          </a:prstGeom>
          <a:solidFill>
            <a:srgbClr val="EEB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288536"/>
            <a:ext cx="31089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Normal vehicle in EV slot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90872"/>
            <a:ext cx="3081528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41605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4160520"/>
            <a:ext cx="73152" cy="1325880"/>
          </a:xfrm>
          <a:prstGeom prst="rect">
            <a:avLst/>
          </a:prstGeom>
          <a:solidFill>
            <a:srgbClr val="C3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4288536"/>
            <a:ext cx="31089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Incompatible slot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690872"/>
            <a:ext cx="3081528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0.0 / skipped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0">
                <a:solidFill>
                  <a:srgbClr val="697789"/>
                </a:solidFill>
                <a:latin typeface="Aptos"/>
              </a:defRPr>
            </a:pPr>
            <a:r>
              <a:t>Only slots that pass the type and capacity checks are considered.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"/>
              </a:defRPr>
            </a:pPr>
            <a:r>
              <a:t>Program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96012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00" b="0">
                <a:solidFill>
                  <a:srgbClr val="697789"/>
                </a:solidFill>
                <a:latin typeface="Aptos"/>
              </a:defRPr>
            </a:pPr>
            <a:r>
              <a:t>From menu input to allocation and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69778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1" y="1581912"/>
            <a:ext cx="438912" cy="438912"/>
          </a:xfrm>
          <a:prstGeom prst="ellipse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64208"/>
            <a:ext cx="438912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00200"/>
            <a:ext cx="246888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121F34"/>
                </a:solidFill>
                <a:latin typeface="Aptos"/>
              </a:defRPr>
            </a:pPr>
            <a:r>
              <a:t>Choose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67128"/>
            <a:ext cx="306324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0">
                <a:solidFill>
                  <a:srgbClr val="2D3948"/>
                </a:solidFill>
                <a:latin typeface="Aptos"/>
              </a:defRPr>
            </a:pPr>
            <a:r>
              <a:t>Visualize / allocate /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5152" y="1581912"/>
            <a:ext cx="438912" cy="438912"/>
          </a:xfrm>
          <a:prstGeom prst="ellipse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664208"/>
            <a:ext cx="438912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600200"/>
            <a:ext cx="246888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121F34"/>
                </a:solidFill>
                <a:latin typeface="Aptos"/>
              </a:defRPr>
            </a:pPr>
            <a:r>
              <a:t>Filter candidates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167128"/>
            <a:ext cx="306324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0">
                <a:solidFill>
                  <a:srgbClr val="2D3948"/>
                </a:solidFill>
                <a:latin typeface="Aptos"/>
              </a:defRPr>
            </a:pPr>
            <a:r>
              <a:t>Slot type and capacity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85632" y="1581912"/>
            <a:ext cx="438912" cy="438912"/>
          </a:xfrm>
          <a:prstGeom prst="ellipse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664208"/>
            <a:ext cx="438912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600200"/>
            <a:ext cx="246888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121F34"/>
                </a:solidFill>
                <a:latin typeface="Aptos"/>
              </a:defRPr>
            </a:pPr>
            <a:r>
              <a:t>Calculate 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167128"/>
            <a:ext cx="306324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0">
                <a:solidFill>
                  <a:srgbClr val="2D3948"/>
                </a:solidFill>
                <a:latin typeface="Aptos"/>
              </a:defRPr>
            </a:pPr>
            <a:r>
              <a:t>Manhattan distance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661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1" y="3730752"/>
            <a:ext cx="438912" cy="438912"/>
          </a:xfrm>
          <a:prstGeom prst="ellipse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813048"/>
            <a:ext cx="438912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749040"/>
            <a:ext cx="246888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121F34"/>
                </a:solidFill>
                <a:latin typeface="Aptos"/>
              </a:defRPr>
            </a:pPr>
            <a:r>
              <a:t>Calculate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315968"/>
            <a:ext cx="306324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0">
                <a:solidFill>
                  <a:srgbClr val="2D3948"/>
                </a:solidFill>
                <a:latin typeface="Aptos"/>
              </a:defRPr>
            </a:pPr>
            <a:r>
              <a:t>Distance + compatibility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5661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45152" y="3730752"/>
            <a:ext cx="438912" cy="438912"/>
          </a:xfrm>
          <a:prstGeom prst="ellipse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3813048"/>
            <a:ext cx="438912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3749040"/>
            <a:ext cx="246888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121F34"/>
                </a:solidFill>
                <a:latin typeface="Aptos"/>
              </a:defRPr>
            </a:pPr>
            <a:r>
              <a:t>Update occupancy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315968"/>
            <a:ext cx="306324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0">
                <a:solidFill>
                  <a:srgbClr val="2D3948"/>
                </a:solidFill>
                <a:latin typeface="Aptos"/>
              </a:defRPr>
            </a:pPr>
            <a:r>
              <a:t>Change matrix values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5661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85632" y="3730752"/>
            <a:ext cx="438912" cy="438912"/>
          </a:xfrm>
          <a:prstGeom prst="ellipse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3813048"/>
            <a:ext cx="438912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3749040"/>
            <a:ext cx="246888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121F34"/>
                </a:solidFill>
                <a:latin typeface="Aptos"/>
              </a:defRPr>
            </a:pPr>
            <a:r>
              <a:t>Display 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4315968"/>
            <a:ext cx="306324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0">
                <a:solidFill>
                  <a:srgbClr val="2D3948"/>
                </a:solidFill>
                <a:latin typeface="Aptos"/>
              </a:defRPr>
            </a:pPr>
            <a:r>
              <a:t>Highlight last allocated slot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989320"/>
            <a:ext cx="105156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697789"/>
                </a:solidFill>
                <a:latin typeface="Aptos"/>
              </a:defRPr>
            </a:pPr>
            <a:r>
              <a:t>Menu: 1 Visualize | 2 Allocate | 3 Release | 4 Exit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"/>
              </a:defRPr>
            </a:pPr>
            <a:r>
              <a:t>Python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96012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00" b="0">
                <a:solidFill>
                  <a:srgbClr val="697789"/>
                </a:solidFill>
                <a:latin typeface="Aptos"/>
              </a:defRPr>
            </a:pPr>
            <a:r>
              <a:t>Libraries and central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69778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73152" cy="1554480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08176"/>
            <a:ext cx="31089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3081528" cy="9601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Stores matrices and coordinates; performs numerical calculations.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73152" cy="155448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08176"/>
            <a:ext cx="31089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10512"/>
            <a:ext cx="3081528" cy="9601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Draws roads, slots, occupancy and the route highlight.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73152" cy="1554480"/>
          </a:xfrm>
          <a:prstGeom prst="rect">
            <a:avLst/>
          </a:prstGeom>
          <a:solidFill>
            <a:srgbClr val="EEB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08176"/>
            <a:ext cx="31089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SmartParking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810512"/>
            <a:ext cx="3081528" cy="9601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0">
                <a:solidFill>
                  <a:srgbClr val="2D3948"/>
                </a:solidFill>
                <a:latin typeface="Aptos"/>
              </a:defRPr>
            </a:pPr>
            <a:r>
              <a:t>Organizes allocate(), release(), distance and visualization methods.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900" b="1">
                <a:solidFill>
                  <a:srgbClr val="121F34"/>
                </a:solidFill>
                <a:latin typeface="Aptos"/>
              </a:defRPr>
            </a:pPr>
            <a:r>
              <a:t>Key logic (simplified)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767328"/>
            <a:ext cx="10241280" cy="347472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13048"/>
            <a:ext cx="987552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onsolas"/>
              </a:defRPr>
            </a:pPr>
            <a:r>
              <a:t>dist_matrix = self.calc_distances()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206240"/>
            <a:ext cx="10241280" cy="347472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51960"/>
            <a:ext cx="987552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onsolas"/>
              </a:defRPr>
            </a:pPr>
            <a:r>
              <a:t>score = 0.7 * (1 - dist_matrix[r, c] / max_dist) + 0.3 * comp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645152"/>
            <a:ext cx="10241280" cy="347472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690872"/>
            <a:ext cx="987552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onsolas"/>
              </a:defRPr>
            </a:pPr>
            <a:r>
              <a:t>if score &gt; best_score:  best_pos = (r, 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084064"/>
            <a:ext cx="10241280" cy="347472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29783"/>
            <a:ext cx="987552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onsolas"/>
              </a:defRPr>
            </a:pPr>
            <a:r>
              <a:t>self.occupancy[best_pos] = 1.0  # car; bikes increase by 0.5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06440"/>
            <a:ext cx="105156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697789"/>
                </a:solidFill>
                <a:latin typeface="Aptos"/>
              </a:defRPr>
            </a:pPr>
            <a:r>
              <a:t>The complete uploaded code should be used for the live demonstration.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"/>
              </a:defRPr>
            </a:pPr>
            <a:r>
              <a:t>Demonstration and Expected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96012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00" b="0">
                <a:solidFill>
                  <a:srgbClr val="697789"/>
                </a:solidFill>
                <a:latin typeface="Aptos"/>
              </a:defRPr>
            </a:pPr>
            <a:r>
              <a:t>Use actual output from your own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69778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73152" cy="1828800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08176"/>
            <a:ext cx="49377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Demo 1 — Visualize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910328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Choose option 1. Show the 4 × 4 map, roads, slot types and occupancy.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182880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08176"/>
            <a:ext cx="49377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Demo 2 — Allocate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10512"/>
            <a:ext cx="4910328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Choose option 2 and enter Normal, EV, Accessible or 2 Wheeler.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20440"/>
            <a:ext cx="73152" cy="1828800"/>
          </a:xfrm>
          <a:prstGeom prst="rect">
            <a:avLst/>
          </a:prstGeom>
          <a:solidFill>
            <a:srgbClr val="3F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48456"/>
            <a:ext cx="49377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Demo 3 —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50791"/>
            <a:ext cx="4910328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Visualize again to show the last allocated slot and green route.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73152" cy="1828800"/>
          </a:xfrm>
          <a:prstGeom prst="rect">
            <a:avLst/>
          </a:prstGeom>
          <a:solidFill>
            <a:srgbClr val="EEB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48456"/>
            <a:ext cx="49377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Demo 4 — 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50791"/>
            <a:ext cx="4910328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Choose option 3 and enter row and column indices, e.g. 1 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0">
                <a:solidFill>
                  <a:srgbClr val="697789"/>
                </a:solidFill>
                <a:latin typeface="Aptos"/>
              </a:defRPr>
            </a:pPr>
            <a:r>
              <a:t>The recommended slot depends on current occupancy and the requested vehicle type.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"/>
              </a:defRPr>
            </a:pPr>
            <a:r>
              <a:t>Deliverables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96012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00" b="0">
                <a:solidFill>
                  <a:srgbClr val="697789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69778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121F34"/>
                </a:solidFill>
                <a:latin typeface="Aptos"/>
              </a:defRPr>
            </a:pPr>
            <a:r>
              <a:t>Parking representation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234440"/>
            <a:ext cx="740664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4 × 4 slot-type and occupancy matrices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856232"/>
            <a:ext cx="10515600" cy="13716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121F34"/>
                </a:solidFill>
                <a:latin typeface="Aptos"/>
              </a:defRPr>
            </a:pPr>
            <a:r>
              <a:t>Allocation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67128"/>
            <a:ext cx="740664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Capacity filtering, Manhattan distance and weighted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788920"/>
            <a:ext cx="10515600" cy="13716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99816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121F34"/>
                </a:solidFill>
                <a:latin typeface="Aptos"/>
              </a:defRPr>
            </a:pPr>
            <a:r>
              <a:t>Slot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99816"/>
            <a:ext cx="740664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Release car spaces or half-capacity bike spaces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721608"/>
            <a:ext cx="10515600" cy="13716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32504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121F34"/>
                </a:solidFill>
                <a:latin typeface="Aptos"/>
              </a:defRPr>
            </a:pPr>
            <a:r>
              <a:t>Visual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032504"/>
            <a:ext cx="740664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Parking layout, road aisles and highlighted route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654296"/>
            <a:ext cx="10515600" cy="13716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65192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121F34"/>
                </a:solidFill>
                <a:latin typeface="Aptos"/>
              </a:defRPr>
            </a:pPr>
            <a:r>
              <a:t>Math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965192"/>
            <a:ext cx="740664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2D3948"/>
                </a:solidFill>
                <a:latin typeface="Aptos"/>
              </a:defRPr>
            </a:pPr>
            <a:r>
              <a:t>Matrices, coordinate mapping, L1 norm and weighted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697789"/>
                </a:solidFill>
                <a:latin typeface="Aptos"/>
              </a:defRPr>
            </a:pPr>
            <a:r>
              <a:t>Scope limitation: prototype only; no live sensors or parking database.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05840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822960" cy="54864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t>This project applies mathematical concepts to a practical parking-allocation problem by combining occupancy matrices, road-based distance and compatibility scoring.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7472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474720"/>
            <a:ext cx="73152" cy="1371600"/>
          </a:xfrm>
          <a:prstGeom prst="rect">
            <a:avLst/>
          </a:prstGeom>
          <a:solidFill>
            <a:srgbClr val="18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02736"/>
            <a:ext cx="28803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Matrices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05072"/>
            <a:ext cx="2852928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0">
                <a:solidFill>
                  <a:srgbClr val="2D3948"/>
                </a:solidFill>
                <a:latin typeface="Aptos"/>
              </a:defRPr>
            </a:pPr>
            <a:r>
              <a:t>Store slot types and occupancy.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47472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3474720"/>
            <a:ext cx="73152" cy="1371600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602736"/>
            <a:ext cx="28803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Manhattan norm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05072"/>
            <a:ext cx="2852928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0">
                <a:solidFill>
                  <a:srgbClr val="2D3948"/>
                </a:solidFill>
                <a:latin typeface="Aptos"/>
              </a:defRPr>
            </a:pPr>
            <a:r>
              <a:t>Estimate driving distance along aisles.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47472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3474720"/>
            <a:ext cx="73152" cy="1371600"/>
          </a:xfrm>
          <a:prstGeom prst="rect">
            <a:avLst/>
          </a:prstGeom>
          <a:solidFill>
            <a:srgbClr val="EEB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602736"/>
            <a:ext cx="28803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Weighted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005072"/>
            <a:ext cx="2852928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0">
                <a:solidFill>
                  <a:srgbClr val="2D3948"/>
                </a:solidFill>
                <a:latin typeface="Aptos"/>
              </a:defRPr>
            </a:pPr>
            <a:r>
              <a:t>Balance distance and compatibility.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91440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C8D8E8"/>
                </a:solidFill>
                <a:latin typeface="Aptos"/>
              </a:defRPr>
            </a:pPr>
            <a:r>
              <a:t>Thank you • 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FBFD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